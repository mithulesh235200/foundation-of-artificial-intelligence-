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28588" y="1784471"/>
            <a:ext cx="301990" cy="301990"/>
            <a:chOff x="0" y="0"/>
            <a:chExt cx="402654" cy="402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87470" y="2676716"/>
            <a:ext cx="301990" cy="301990"/>
            <a:chOff x="0" y="0"/>
            <a:chExt cx="402654" cy="4026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46353" y="1784471"/>
            <a:ext cx="301990" cy="301990"/>
            <a:chOff x="0" y="0"/>
            <a:chExt cx="402654" cy="4026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05235" y="2676716"/>
            <a:ext cx="301990" cy="301990"/>
            <a:chOff x="0" y="0"/>
            <a:chExt cx="402654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64117" y="1784471"/>
            <a:ext cx="301990" cy="301990"/>
            <a:chOff x="0" y="0"/>
            <a:chExt cx="402654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590" cy="402590"/>
            </a:xfrm>
            <a:custGeom>
              <a:avLst/>
              <a:gdLst/>
              <a:ahLst/>
              <a:cxnLst/>
              <a:rect r="r" b="b" t="t" l="l"/>
              <a:pathLst>
                <a:path h="402590" w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0940" y="1628213"/>
            <a:ext cx="10523963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4"/>
              </a:lnSpc>
            </a:pPr>
            <a:r>
              <a:rPr lang="en-US" b="true" sz="6203" u="sng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AADU PULI AATAM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2126" y="2793025"/>
            <a:ext cx="10112159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AI-Based Traditional Board Game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2126" y="3584972"/>
            <a:ext cx="668048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9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Review – 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126" y="4587021"/>
            <a:ext cx="1052396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2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Three Tigers • Fifteen Goats • 23-Point 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126" y="5557418"/>
            <a:ext cx="1038669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28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Applying adversarial search, heuristic evaluation and constraint-based rule validation to an interactive digital game.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0940" y="9671777"/>
            <a:ext cx="668048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Artificial Intelligence &amp; Game Playing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38465" y="7999822"/>
            <a:ext cx="4443198" cy="201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BY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Mithulesh J  240701313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Mithun Raj D  240701315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092" y="1983229"/>
            <a:ext cx="7428124" cy="6160613"/>
            <a:chOff x="0" y="0"/>
            <a:chExt cx="10725912" cy="8895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5912" cy="8895588"/>
            </a:xfrm>
            <a:custGeom>
              <a:avLst/>
              <a:gdLst/>
              <a:ahLst/>
              <a:cxnLst/>
              <a:rect r="r" b="b" t="t" l="l"/>
              <a:pathLst>
                <a:path h="8895588" w="10725912">
                  <a:moveTo>
                    <a:pt x="0" y="1482598"/>
                  </a:moveTo>
                  <a:cubicBezTo>
                    <a:pt x="0" y="663829"/>
                    <a:pt x="663829" y="0"/>
                    <a:pt x="1482598" y="0"/>
                  </a:cubicBezTo>
                  <a:lnTo>
                    <a:pt x="9243314" y="0"/>
                  </a:lnTo>
                  <a:cubicBezTo>
                    <a:pt x="10062210" y="0"/>
                    <a:pt x="10725912" y="663829"/>
                    <a:pt x="10725912" y="1482598"/>
                  </a:cubicBezTo>
                  <a:lnTo>
                    <a:pt x="10725912" y="7412990"/>
                  </a:lnTo>
                  <a:cubicBezTo>
                    <a:pt x="10725912" y="8231886"/>
                    <a:pt x="10062083" y="8895588"/>
                    <a:pt x="9243314" y="8895588"/>
                  </a:cubicBezTo>
                  <a:lnTo>
                    <a:pt x="1482598" y="8895588"/>
                  </a:lnTo>
                  <a:cubicBezTo>
                    <a:pt x="663829" y="8895715"/>
                    <a:pt x="0" y="8231886"/>
                    <a:pt x="0" y="7412990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27023" y="1983229"/>
            <a:ext cx="7794184" cy="6160613"/>
            <a:chOff x="0" y="0"/>
            <a:chExt cx="11254487" cy="88956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54487" cy="8895588"/>
            </a:xfrm>
            <a:custGeom>
              <a:avLst/>
              <a:gdLst/>
              <a:ahLst/>
              <a:cxnLst/>
              <a:rect r="r" b="b" t="t" l="l"/>
              <a:pathLst>
                <a:path h="8895588" w="11254487">
                  <a:moveTo>
                    <a:pt x="0" y="1482598"/>
                  </a:moveTo>
                  <a:cubicBezTo>
                    <a:pt x="0" y="663829"/>
                    <a:pt x="696543" y="0"/>
                    <a:pt x="1555661" y="0"/>
                  </a:cubicBezTo>
                  <a:lnTo>
                    <a:pt x="9698827" y="0"/>
                  </a:lnTo>
                  <a:cubicBezTo>
                    <a:pt x="10558077" y="0"/>
                    <a:pt x="11254487" y="663829"/>
                    <a:pt x="11254487" y="1482598"/>
                  </a:cubicBezTo>
                  <a:lnTo>
                    <a:pt x="11254487" y="7412990"/>
                  </a:lnTo>
                  <a:cubicBezTo>
                    <a:pt x="11254487" y="8231886"/>
                    <a:pt x="10557944" y="8895588"/>
                    <a:pt x="9698827" y="8895588"/>
                  </a:cubicBezTo>
                  <a:lnTo>
                    <a:pt x="1555661" y="8895588"/>
                  </a:lnTo>
                  <a:cubicBezTo>
                    <a:pt x="696543" y="8895715"/>
                    <a:pt x="0" y="8231886"/>
                    <a:pt x="0" y="7412990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Abstract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48" y="1068829"/>
            <a:ext cx="1601465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overview and AI perspective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214" y="2165794"/>
            <a:ext cx="729817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GAME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846" y="3522802"/>
            <a:ext cx="6818615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3324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is a traditional asymmetric strategy game involving 3 tigers and 15 goats. Tigers attempt to capture goats, while goats attempt to block and trap the tigers.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57" y="2225085"/>
            <a:ext cx="729817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AI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7116" y="2977560"/>
            <a:ext cx="7504090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4"/>
              </a:lnSpc>
            </a:pPr>
            <a:r>
              <a:rPr lang="en-US" sz="332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proposed system digitizes the game and provides a computer opponent. The board is represented as connected positions; legal moves and captures are validated by game constraints. An adversarial search agent evaluates future states and selects a strategically useful move.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8453" y="8572757"/>
            <a:ext cx="256246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3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concepts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59684" y="9121721"/>
            <a:ext cx="153283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State  •  Legal Moves  •  Minimax  •  Alpha-Beta Pruning  •  Heuristic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2652" y="2210533"/>
            <a:ext cx="9627098" cy="418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Traditional play depends entirely on human decision-making.</a:t>
            </a:r>
          </a:p>
          <a:p>
            <a:pPr algn="l">
              <a:lnSpc>
                <a:spcPts val="4752"/>
              </a:lnSpc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Digital implementation must accurately represent the 23-point board and its connections.</a:t>
            </a:r>
          </a:p>
          <a:p>
            <a:pPr algn="l">
              <a:lnSpc>
                <a:spcPts val="4752"/>
              </a:lnSpc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The system must enforce movement, capture, blocking and winning rules.</a:t>
            </a:r>
          </a:p>
          <a:p>
            <a:pPr algn="l">
              <a:lnSpc>
                <a:spcPts val="4752"/>
              </a:lnSpc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An AI opponent should analyse possible future game states rather than choose moves randomly.</a:t>
            </a:r>
          </a:p>
          <a:p>
            <a:pPr algn="l">
              <a:lnSpc>
                <a:spcPts val="4752"/>
              </a:lnSpc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Search must remain efficient enough for responsive gameplay.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248758" y="1983229"/>
            <a:ext cx="5985424" cy="5093189"/>
            <a:chOff x="0" y="0"/>
            <a:chExt cx="7980566" cy="6790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80553" cy="6790944"/>
            </a:xfrm>
            <a:custGeom>
              <a:avLst/>
              <a:gdLst/>
              <a:ahLst/>
              <a:cxnLst/>
              <a:rect r="r" b="b" t="t" l="l"/>
              <a:pathLst>
                <a:path h="6790944" w="7980553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6848729" y="0"/>
                  </a:lnTo>
                  <a:cubicBezTo>
                    <a:pt x="7473824" y="0"/>
                    <a:pt x="7980553" y="506730"/>
                    <a:pt x="7980553" y="1131824"/>
                  </a:cubicBezTo>
                  <a:lnTo>
                    <a:pt x="7980553" y="5659120"/>
                  </a:lnTo>
                  <a:cubicBezTo>
                    <a:pt x="7980553" y="6284214"/>
                    <a:pt x="7473824" y="6790944"/>
                    <a:pt x="6848729" y="6790944"/>
                  </a:cubicBezTo>
                  <a:lnTo>
                    <a:pt x="1131824" y="6790944"/>
                  </a:lnTo>
                  <a:cubicBezTo>
                    <a:pt x="506730" y="6790944"/>
                    <a:pt x="0" y="6284214"/>
                    <a:pt x="0" y="5659120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671" y="1136828"/>
            <a:ext cx="1601465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From traditional gameplay to intelligent digital decision-making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940" y="1841678"/>
            <a:ext cx="154285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9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8821" y="2187035"/>
            <a:ext cx="5239179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CHALLENGE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21881" y="2926261"/>
            <a:ext cx="5239179" cy="39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 State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Legal Moves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Possible States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Best Move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3391"/>
              </a:lnSpc>
            </a:pPr>
            <a:r>
              <a:rPr lang="en-US" sz="28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Game State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0940" y="7266532"/>
            <a:ext cx="25756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2652" y="8152357"/>
            <a:ext cx="158773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design and implement an intelligent digital Aadu Puli Aatam system that validates legal moves and uses adversarial search to select strategically beneficial moves.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817" y="1983229"/>
            <a:ext cx="3514611" cy="769268"/>
            <a:chOff x="0" y="0"/>
            <a:chExt cx="4686148" cy="1025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61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4686173">
                  <a:moveTo>
                    <a:pt x="0" y="0"/>
                  </a:moveTo>
                  <a:lnTo>
                    <a:pt x="4686173" y="0"/>
                  </a:lnTo>
                  <a:lnTo>
                    <a:pt x="4686173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60A5FA"/>
            </a:solidFill>
            <a:ln w="14299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248131" y="1983229"/>
            <a:ext cx="2896914" cy="769268"/>
            <a:chOff x="0" y="0"/>
            <a:chExt cx="3862553" cy="1025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62578" cy="1025652"/>
            </a:xfrm>
            <a:custGeom>
              <a:avLst/>
              <a:gdLst/>
              <a:ahLst/>
              <a:cxnLst/>
              <a:rect r="r" b="b" t="t" l="l"/>
              <a:pathLst>
                <a:path h="102565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60A5FA"/>
            </a:solidFill>
            <a:ln w="14299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130748" y="1983229"/>
            <a:ext cx="6397228" cy="769268"/>
            <a:chOff x="0" y="0"/>
            <a:chExt cx="8529638" cy="1025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29574" cy="1025652"/>
            </a:xfrm>
            <a:custGeom>
              <a:avLst/>
              <a:gdLst/>
              <a:ahLst/>
              <a:cxnLst/>
              <a:rect r="r" b="b" t="t" l="l"/>
              <a:pathLst>
                <a:path h="1025652" w="8529574">
                  <a:moveTo>
                    <a:pt x="0" y="0"/>
                  </a:moveTo>
                  <a:lnTo>
                    <a:pt x="8529574" y="0"/>
                  </a:lnTo>
                  <a:lnTo>
                    <a:pt x="8529574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60A5FA"/>
            </a:solidFill>
            <a:ln w="14299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513670" y="1983229"/>
            <a:ext cx="4200954" cy="769268"/>
            <a:chOff x="0" y="0"/>
            <a:chExt cx="5601272" cy="1025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01208" cy="1025652"/>
            </a:xfrm>
            <a:custGeom>
              <a:avLst/>
              <a:gdLst/>
              <a:ahLst/>
              <a:cxnLst/>
              <a:rect r="r" b="b" t="t" l="l"/>
              <a:pathLst>
                <a:path h="1025652" w="5601208">
                  <a:moveTo>
                    <a:pt x="0" y="0"/>
                  </a:moveTo>
                  <a:lnTo>
                    <a:pt x="5601208" y="0"/>
                  </a:lnTo>
                  <a:lnTo>
                    <a:pt x="5601208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60A5FA"/>
            </a:solidFill>
            <a:ln w="14299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7817" y="2738199"/>
            <a:ext cx="3514611" cy="1139885"/>
            <a:chOff x="0" y="0"/>
            <a:chExt cx="4686148" cy="15198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86173" cy="1519809"/>
            </a:xfrm>
            <a:custGeom>
              <a:avLst/>
              <a:gdLst/>
              <a:ahLst/>
              <a:cxnLst/>
              <a:rect r="r" b="b" t="t" l="l"/>
              <a:pathLst>
                <a:path h="1519809" w="4686173">
                  <a:moveTo>
                    <a:pt x="0" y="0"/>
                  </a:moveTo>
                  <a:lnTo>
                    <a:pt x="4686173" y="0"/>
                  </a:lnTo>
                  <a:lnTo>
                    <a:pt x="4686173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248131" y="2738199"/>
            <a:ext cx="2896914" cy="1139885"/>
            <a:chOff x="0" y="0"/>
            <a:chExt cx="3862553" cy="15198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62578" cy="1519809"/>
            </a:xfrm>
            <a:custGeom>
              <a:avLst/>
              <a:gdLst/>
              <a:ahLst/>
              <a:cxnLst/>
              <a:rect r="r" b="b" t="t" l="l"/>
              <a:pathLst>
                <a:path h="151980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130748" y="2738199"/>
            <a:ext cx="6397228" cy="1139885"/>
            <a:chOff x="0" y="0"/>
            <a:chExt cx="8529638" cy="1519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29574" cy="1519809"/>
            </a:xfrm>
            <a:custGeom>
              <a:avLst/>
              <a:gdLst/>
              <a:ahLst/>
              <a:cxnLst/>
              <a:rect r="r" b="b" t="t" l="l"/>
              <a:pathLst>
                <a:path h="1519809" w="8529574">
                  <a:moveTo>
                    <a:pt x="0" y="0"/>
                  </a:moveTo>
                  <a:lnTo>
                    <a:pt x="8529574" y="0"/>
                  </a:lnTo>
                  <a:lnTo>
                    <a:pt x="8529574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513670" y="2738199"/>
            <a:ext cx="4200954" cy="1139885"/>
            <a:chOff x="0" y="0"/>
            <a:chExt cx="5601272" cy="15198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1208" cy="1519809"/>
            </a:xfrm>
            <a:custGeom>
              <a:avLst/>
              <a:gdLst/>
              <a:ahLst/>
              <a:cxnLst/>
              <a:rect r="r" b="b" t="t" l="l"/>
              <a:pathLst>
                <a:path h="1519809" w="5601208">
                  <a:moveTo>
                    <a:pt x="0" y="0"/>
                  </a:moveTo>
                  <a:lnTo>
                    <a:pt x="5601208" y="0"/>
                  </a:lnTo>
                  <a:lnTo>
                    <a:pt x="560120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47817" y="3863788"/>
            <a:ext cx="3514611" cy="1139885"/>
            <a:chOff x="0" y="0"/>
            <a:chExt cx="4686148" cy="15198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86173" cy="1519809"/>
            </a:xfrm>
            <a:custGeom>
              <a:avLst/>
              <a:gdLst/>
              <a:ahLst/>
              <a:cxnLst/>
              <a:rect r="r" b="b" t="t" l="l"/>
              <a:pathLst>
                <a:path h="1519809" w="4686173">
                  <a:moveTo>
                    <a:pt x="0" y="0"/>
                  </a:moveTo>
                  <a:lnTo>
                    <a:pt x="4686173" y="0"/>
                  </a:lnTo>
                  <a:lnTo>
                    <a:pt x="4686173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248131" y="3863788"/>
            <a:ext cx="2896914" cy="1139885"/>
            <a:chOff x="0" y="0"/>
            <a:chExt cx="3862553" cy="15198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62578" cy="1519809"/>
            </a:xfrm>
            <a:custGeom>
              <a:avLst/>
              <a:gdLst/>
              <a:ahLst/>
              <a:cxnLst/>
              <a:rect r="r" b="b" t="t" l="l"/>
              <a:pathLst>
                <a:path h="151980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130748" y="3863788"/>
            <a:ext cx="6397228" cy="1139885"/>
            <a:chOff x="0" y="0"/>
            <a:chExt cx="8529638" cy="15198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29574" cy="1519809"/>
            </a:xfrm>
            <a:custGeom>
              <a:avLst/>
              <a:gdLst/>
              <a:ahLst/>
              <a:cxnLst/>
              <a:rect r="r" b="b" t="t" l="l"/>
              <a:pathLst>
                <a:path h="1519809" w="8529574">
                  <a:moveTo>
                    <a:pt x="0" y="0"/>
                  </a:moveTo>
                  <a:lnTo>
                    <a:pt x="8529574" y="0"/>
                  </a:lnTo>
                  <a:lnTo>
                    <a:pt x="8529574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513670" y="3863788"/>
            <a:ext cx="4200954" cy="1139885"/>
            <a:chOff x="0" y="0"/>
            <a:chExt cx="5601272" cy="15198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1208" cy="1519809"/>
            </a:xfrm>
            <a:custGeom>
              <a:avLst/>
              <a:gdLst/>
              <a:ahLst/>
              <a:cxnLst/>
              <a:rect r="r" b="b" t="t" l="l"/>
              <a:pathLst>
                <a:path h="1519809" w="5601208">
                  <a:moveTo>
                    <a:pt x="0" y="0"/>
                  </a:moveTo>
                  <a:lnTo>
                    <a:pt x="5601208" y="0"/>
                  </a:lnTo>
                  <a:lnTo>
                    <a:pt x="560120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47817" y="4989376"/>
            <a:ext cx="3514611" cy="1139885"/>
            <a:chOff x="0" y="0"/>
            <a:chExt cx="4686148" cy="15198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86173" cy="1519809"/>
            </a:xfrm>
            <a:custGeom>
              <a:avLst/>
              <a:gdLst/>
              <a:ahLst/>
              <a:cxnLst/>
              <a:rect r="r" b="b" t="t" l="l"/>
              <a:pathLst>
                <a:path h="1519809" w="4686173">
                  <a:moveTo>
                    <a:pt x="0" y="0"/>
                  </a:moveTo>
                  <a:lnTo>
                    <a:pt x="4686173" y="0"/>
                  </a:lnTo>
                  <a:lnTo>
                    <a:pt x="4686173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248131" y="4989376"/>
            <a:ext cx="2896914" cy="1139885"/>
            <a:chOff x="0" y="0"/>
            <a:chExt cx="3862553" cy="15198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62578" cy="1519809"/>
            </a:xfrm>
            <a:custGeom>
              <a:avLst/>
              <a:gdLst/>
              <a:ahLst/>
              <a:cxnLst/>
              <a:rect r="r" b="b" t="t" l="l"/>
              <a:pathLst>
                <a:path h="151980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130748" y="4989376"/>
            <a:ext cx="6397228" cy="1139885"/>
            <a:chOff x="0" y="0"/>
            <a:chExt cx="8529638" cy="15198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29574" cy="1519809"/>
            </a:xfrm>
            <a:custGeom>
              <a:avLst/>
              <a:gdLst/>
              <a:ahLst/>
              <a:cxnLst/>
              <a:rect r="r" b="b" t="t" l="l"/>
              <a:pathLst>
                <a:path h="1519809" w="8529574">
                  <a:moveTo>
                    <a:pt x="0" y="0"/>
                  </a:moveTo>
                  <a:lnTo>
                    <a:pt x="8529574" y="0"/>
                  </a:lnTo>
                  <a:lnTo>
                    <a:pt x="8529574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513670" y="4989376"/>
            <a:ext cx="4200954" cy="1139885"/>
            <a:chOff x="0" y="0"/>
            <a:chExt cx="5601272" cy="15198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1208" cy="1519809"/>
            </a:xfrm>
            <a:custGeom>
              <a:avLst/>
              <a:gdLst/>
              <a:ahLst/>
              <a:cxnLst/>
              <a:rect r="r" b="b" t="t" l="l"/>
              <a:pathLst>
                <a:path h="1519809" w="5601208">
                  <a:moveTo>
                    <a:pt x="0" y="0"/>
                  </a:moveTo>
                  <a:lnTo>
                    <a:pt x="5601208" y="0"/>
                  </a:lnTo>
                  <a:lnTo>
                    <a:pt x="560120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7817" y="6114974"/>
            <a:ext cx="3514611" cy="1139885"/>
            <a:chOff x="0" y="0"/>
            <a:chExt cx="4686148" cy="151984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86173" cy="1519809"/>
            </a:xfrm>
            <a:custGeom>
              <a:avLst/>
              <a:gdLst/>
              <a:ahLst/>
              <a:cxnLst/>
              <a:rect r="r" b="b" t="t" l="l"/>
              <a:pathLst>
                <a:path h="1519809" w="4686173">
                  <a:moveTo>
                    <a:pt x="0" y="0"/>
                  </a:moveTo>
                  <a:lnTo>
                    <a:pt x="4686173" y="0"/>
                  </a:lnTo>
                  <a:lnTo>
                    <a:pt x="4686173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248131" y="6114974"/>
            <a:ext cx="2896914" cy="1139885"/>
            <a:chOff x="0" y="0"/>
            <a:chExt cx="3862553" cy="15198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62578" cy="1519809"/>
            </a:xfrm>
            <a:custGeom>
              <a:avLst/>
              <a:gdLst/>
              <a:ahLst/>
              <a:cxnLst/>
              <a:rect r="r" b="b" t="t" l="l"/>
              <a:pathLst>
                <a:path h="151980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130748" y="6114974"/>
            <a:ext cx="6397228" cy="1139885"/>
            <a:chOff x="0" y="0"/>
            <a:chExt cx="8529638" cy="15198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29574" cy="1519809"/>
            </a:xfrm>
            <a:custGeom>
              <a:avLst/>
              <a:gdLst/>
              <a:ahLst/>
              <a:cxnLst/>
              <a:rect r="r" b="b" t="t" l="l"/>
              <a:pathLst>
                <a:path h="1519809" w="8529574">
                  <a:moveTo>
                    <a:pt x="0" y="0"/>
                  </a:moveTo>
                  <a:lnTo>
                    <a:pt x="8529574" y="0"/>
                  </a:lnTo>
                  <a:lnTo>
                    <a:pt x="8529574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513670" y="6114974"/>
            <a:ext cx="4200954" cy="1139885"/>
            <a:chOff x="0" y="0"/>
            <a:chExt cx="5601272" cy="151984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01208" cy="1519809"/>
            </a:xfrm>
            <a:custGeom>
              <a:avLst/>
              <a:gdLst/>
              <a:ahLst/>
              <a:cxnLst/>
              <a:rect r="r" b="b" t="t" l="l"/>
              <a:pathLst>
                <a:path h="1519809" w="5601208">
                  <a:moveTo>
                    <a:pt x="0" y="0"/>
                  </a:moveTo>
                  <a:lnTo>
                    <a:pt x="5601208" y="0"/>
                  </a:lnTo>
                  <a:lnTo>
                    <a:pt x="560120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0F172A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47817" y="7240562"/>
            <a:ext cx="3514611" cy="1139885"/>
            <a:chOff x="0" y="0"/>
            <a:chExt cx="4686148" cy="15198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86173" cy="1519809"/>
            </a:xfrm>
            <a:custGeom>
              <a:avLst/>
              <a:gdLst/>
              <a:ahLst/>
              <a:cxnLst/>
              <a:rect r="r" b="b" t="t" l="l"/>
              <a:pathLst>
                <a:path h="1519809" w="4686173">
                  <a:moveTo>
                    <a:pt x="0" y="0"/>
                  </a:moveTo>
                  <a:lnTo>
                    <a:pt x="4686173" y="0"/>
                  </a:lnTo>
                  <a:lnTo>
                    <a:pt x="4686173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4248131" y="7240562"/>
            <a:ext cx="2896914" cy="1139885"/>
            <a:chOff x="0" y="0"/>
            <a:chExt cx="3862553" cy="15198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62578" cy="1519809"/>
            </a:xfrm>
            <a:custGeom>
              <a:avLst/>
              <a:gdLst/>
              <a:ahLst/>
              <a:cxnLst/>
              <a:rect r="r" b="b" t="t" l="l"/>
              <a:pathLst>
                <a:path h="151980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130748" y="7240562"/>
            <a:ext cx="6397228" cy="1139885"/>
            <a:chOff x="0" y="0"/>
            <a:chExt cx="8529638" cy="15198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29574" cy="1519809"/>
            </a:xfrm>
            <a:custGeom>
              <a:avLst/>
              <a:gdLst/>
              <a:ahLst/>
              <a:cxnLst/>
              <a:rect r="r" b="b" t="t" l="l"/>
              <a:pathLst>
                <a:path h="1519809" w="8529574">
                  <a:moveTo>
                    <a:pt x="0" y="0"/>
                  </a:moveTo>
                  <a:lnTo>
                    <a:pt x="8529574" y="0"/>
                  </a:lnTo>
                  <a:lnTo>
                    <a:pt x="8529574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513670" y="7240562"/>
            <a:ext cx="4200954" cy="1139885"/>
            <a:chOff x="0" y="0"/>
            <a:chExt cx="5601272" cy="15198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01208" cy="1519809"/>
            </a:xfrm>
            <a:custGeom>
              <a:avLst/>
              <a:gdLst/>
              <a:ahLst/>
              <a:cxnLst/>
              <a:rect r="r" b="b" t="t" l="l"/>
              <a:pathLst>
                <a:path h="1519809" w="5601208">
                  <a:moveTo>
                    <a:pt x="0" y="0"/>
                  </a:moveTo>
                  <a:lnTo>
                    <a:pt x="5601208" y="0"/>
                  </a:lnTo>
                  <a:lnTo>
                    <a:pt x="5601208" y="1519809"/>
                  </a:lnTo>
                  <a:lnTo>
                    <a:pt x="0" y="1519809"/>
                  </a:ln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Literature Survey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5048" y="1096975"/>
            <a:ext cx="16014659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foundations for game-playing AI and CSP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6224" y="2125742"/>
            <a:ext cx="30978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 / Source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456538" y="2125742"/>
            <a:ext cx="24801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Technique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39146" y="2125742"/>
            <a:ext cx="598042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Finding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22077" y="2125742"/>
            <a:ext cx="378414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Relevance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6224" y="2876502"/>
            <a:ext cx="309780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Russell &amp; Norvig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56538" y="2876502"/>
            <a:ext cx="24801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Minimax + Alpha-Beta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339146" y="2876502"/>
            <a:ext cx="59804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Optimal adversarial decisions; pruning reduces unnecessary search.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722077" y="2876502"/>
            <a:ext cx="37841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Core AI decision model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6224" y="4002091"/>
            <a:ext cx="309780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Browne et al. (2012)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456538" y="4002091"/>
            <a:ext cx="24801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Monte Carlo Tree Search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339146" y="4002091"/>
            <a:ext cx="59804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Tree search through repeated simulation; balances exploration and exploitation.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22077" y="4002091"/>
            <a:ext cx="37841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Alternative AI approach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6224" y="5127688"/>
            <a:ext cx="309780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Świechowski et al. (2023)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56538" y="5127688"/>
            <a:ext cx="24801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MCTS review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339146" y="5127688"/>
            <a:ext cx="59804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Modern MCTS variants and applications across game domains.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722077" y="5127688"/>
            <a:ext cx="37841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comparison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6224" y="6253277"/>
            <a:ext cx="309780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Nadel (1989)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56538" y="6253277"/>
            <a:ext cx="24801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Constraint Satisfaction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39146" y="6253277"/>
            <a:ext cx="59804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and constraint propagation help solve structured constraint problems.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722077" y="6253277"/>
            <a:ext cx="37841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Legal-move validation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56224" y="7378865"/>
            <a:ext cx="309780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Aadu Puli Aatam implementations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456538" y="7378865"/>
            <a:ext cx="24801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Rule-based gameplay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339146" y="7378865"/>
            <a:ext cx="59804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versions implement movement, capture and win rules.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722077" y="7378865"/>
            <a:ext cx="37841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Game-rule foundation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52312" y="8586826"/>
            <a:ext cx="1601465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Observation: game-AI research is mature, but traditional asymmetric games such as Aadu Puli Aatam offer a focused setting for combining search with explicit rule constraints.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Research Gap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499" y="1407747"/>
            <a:ext cx="16014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Where the proposed work is positioned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3719" y="2051856"/>
            <a:ext cx="4807034" cy="5383587"/>
            <a:chOff x="0" y="0"/>
            <a:chExt cx="6699402" cy="75029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99377" cy="7502902"/>
            </a:xfrm>
            <a:custGeom>
              <a:avLst/>
              <a:gdLst/>
              <a:ahLst/>
              <a:cxnLst/>
              <a:rect r="r" b="b" t="t" l="l"/>
              <a:pathLst>
                <a:path h="7502902" w="6699377">
                  <a:moveTo>
                    <a:pt x="0" y="1026222"/>
                  </a:moveTo>
                  <a:cubicBezTo>
                    <a:pt x="0" y="459419"/>
                    <a:pt x="499872" y="0"/>
                    <a:pt x="1116584" y="0"/>
                  </a:cubicBezTo>
                  <a:lnTo>
                    <a:pt x="5582793" y="0"/>
                  </a:lnTo>
                  <a:cubicBezTo>
                    <a:pt x="6199505" y="0"/>
                    <a:pt x="6699377" y="459419"/>
                    <a:pt x="6699377" y="1026222"/>
                  </a:cubicBezTo>
                  <a:lnTo>
                    <a:pt x="6699377" y="6476681"/>
                  </a:lnTo>
                  <a:cubicBezTo>
                    <a:pt x="6699377" y="7043484"/>
                    <a:pt x="6199505" y="7502902"/>
                    <a:pt x="5582793" y="7502902"/>
                  </a:cubicBezTo>
                  <a:lnTo>
                    <a:pt x="1116584" y="7502902"/>
                  </a:lnTo>
                  <a:cubicBezTo>
                    <a:pt x="499872" y="7502902"/>
                    <a:pt x="0" y="7043484"/>
                    <a:pt x="0" y="6476681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26842" y="2253482"/>
            <a:ext cx="42783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GAME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842" y="2834202"/>
            <a:ext cx="4278306" cy="263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research exists for Chess, Go, Othello and other benchmark games.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Common approaches include Minimax, Alpha-Beta, MCTS and learning-based agents.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50307" y="2051856"/>
            <a:ext cx="4813866" cy="5383587"/>
            <a:chOff x="0" y="0"/>
            <a:chExt cx="6418487" cy="71781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18463" cy="7178094"/>
            </a:xfrm>
            <a:custGeom>
              <a:avLst/>
              <a:gdLst/>
              <a:ahLst/>
              <a:cxnLst/>
              <a:rect r="r" b="b" t="t" l="l"/>
              <a:pathLst>
                <a:path h="7178094" w="6418463">
                  <a:moveTo>
                    <a:pt x="0" y="981795"/>
                  </a:moveTo>
                  <a:cubicBezTo>
                    <a:pt x="0" y="439530"/>
                    <a:pt x="478912" y="0"/>
                    <a:pt x="1069764" y="0"/>
                  </a:cubicBezTo>
                  <a:lnTo>
                    <a:pt x="5348699" y="0"/>
                  </a:lnTo>
                  <a:cubicBezTo>
                    <a:pt x="5939551" y="0"/>
                    <a:pt x="6418463" y="439530"/>
                    <a:pt x="6418463" y="981795"/>
                  </a:cubicBezTo>
                  <a:lnTo>
                    <a:pt x="6418463" y="6196299"/>
                  </a:lnTo>
                  <a:cubicBezTo>
                    <a:pt x="6418463" y="6738565"/>
                    <a:pt x="5939551" y="7178094"/>
                    <a:pt x="5348699" y="7178094"/>
                  </a:cubicBezTo>
                  <a:lnTo>
                    <a:pt x="1069764" y="7178094"/>
                  </a:lnTo>
                  <a:cubicBezTo>
                    <a:pt x="478912" y="7178094"/>
                    <a:pt x="0" y="6738565"/>
                    <a:pt x="0" y="61962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7023440" y="2253482"/>
            <a:ext cx="42783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GAME VERSIONS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23440" y="2834202"/>
            <a:ext cx="4278306" cy="263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Aadu Puli Aatam implementations primarily focus on board interaction and rule enforcement.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AI decision-making is not always the central focus.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46905" y="2051856"/>
            <a:ext cx="4788694" cy="5383587"/>
            <a:chOff x="0" y="0"/>
            <a:chExt cx="6384925" cy="71781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84901" cy="7178094"/>
            </a:xfrm>
            <a:custGeom>
              <a:avLst/>
              <a:gdLst/>
              <a:ahLst/>
              <a:cxnLst/>
              <a:rect r="r" b="b" t="t" l="l"/>
              <a:pathLst>
                <a:path h="7178094" w="6384901">
                  <a:moveTo>
                    <a:pt x="0" y="981795"/>
                  </a:moveTo>
                  <a:cubicBezTo>
                    <a:pt x="0" y="439530"/>
                    <a:pt x="476407" y="0"/>
                    <a:pt x="1064170" y="0"/>
                  </a:cubicBezTo>
                  <a:lnTo>
                    <a:pt x="5320730" y="0"/>
                  </a:lnTo>
                  <a:cubicBezTo>
                    <a:pt x="5908493" y="0"/>
                    <a:pt x="6384901" y="439530"/>
                    <a:pt x="6384901" y="981795"/>
                  </a:cubicBezTo>
                  <a:lnTo>
                    <a:pt x="6384901" y="6196299"/>
                  </a:lnTo>
                  <a:cubicBezTo>
                    <a:pt x="6384901" y="6738565"/>
                    <a:pt x="5908493" y="7178094"/>
                    <a:pt x="5320730" y="7178094"/>
                  </a:cubicBezTo>
                  <a:lnTo>
                    <a:pt x="1064170" y="7178094"/>
                  </a:lnTo>
                  <a:cubicBezTo>
                    <a:pt x="476407" y="7178094"/>
                    <a:pt x="0" y="6738565"/>
                    <a:pt x="0" y="61962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720028" y="2253482"/>
            <a:ext cx="4278306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IDENTIFIED GAP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20028" y="2738952"/>
            <a:ext cx="4278306" cy="348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 focused implementation can combine: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Formal 23-point state representation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Constraint-based legal moves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Asymmetric strategic evaluation</a:t>
            </a:r>
          </a:p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Adversarial AI 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037800"/>
            <a:ext cx="324879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Gap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312" y="8684409"/>
            <a:ext cx="16014659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There is scope for an AI-oriented Aadu Puli Aatam system that integrates formal game-state modelling, constraint-based move validation and intelligent adversarial decision-making.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499" y="1417272"/>
            <a:ext cx="16014659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What the project aims to achieve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0940" y="1851203"/>
            <a:ext cx="3248797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PRIMARY 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0940" y="2349570"/>
            <a:ext cx="15877384" cy="99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 an intelligent game-playing system for Aadu Puli Aatam capable of analysing game states and selecting optimal or near-optimal moves using Artificial Intelligence techniques.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4179503"/>
            <a:ext cx="5161817" cy="1798777"/>
            <a:chOff x="0" y="0"/>
            <a:chExt cx="6882422" cy="2398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511" cy="2398522"/>
            </a:xfrm>
            <a:custGeom>
              <a:avLst/>
              <a:gdLst/>
              <a:ahLst/>
              <a:cxnLst/>
              <a:rect r="r" b="b" t="t" l="l"/>
              <a:pathLst>
                <a:path h="2398522" w="6882511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6482715" y="0"/>
                  </a:lnTo>
                  <a:cubicBezTo>
                    <a:pt x="6703441" y="0"/>
                    <a:pt x="6882511" y="178943"/>
                    <a:pt x="6882511" y="399796"/>
                  </a:cubicBezTo>
                  <a:lnTo>
                    <a:pt x="6882511" y="1998726"/>
                  </a:lnTo>
                  <a:cubicBezTo>
                    <a:pt x="6882511" y="2219452"/>
                    <a:pt x="6703568" y="2398522"/>
                    <a:pt x="648271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99391" y="4431830"/>
            <a:ext cx="434826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0636" y="4413895"/>
            <a:ext cx="3591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Digital 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0636" y="4921787"/>
            <a:ext cx="359197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Represent the 23-point board and piece positions.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50307" y="4179503"/>
            <a:ext cx="5161817" cy="1798777"/>
            <a:chOff x="0" y="0"/>
            <a:chExt cx="6882422" cy="2398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2511" cy="2398522"/>
            </a:xfrm>
            <a:custGeom>
              <a:avLst/>
              <a:gdLst/>
              <a:ahLst/>
              <a:cxnLst/>
              <a:rect r="r" b="b" t="t" l="l"/>
              <a:pathLst>
                <a:path h="2398522" w="6882511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6482715" y="0"/>
                  </a:lnTo>
                  <a:cubicBezTo>
                    <a:pt x="6703441" y="0"/>
                    <a:pt x="6882511" y="178943"/>
                    <a:pt x="6882511" y="399796"/>
                  </a:cubicBezTo>
                  <a:lnTo>
                    <a:pt x="6882511" y="1998726"/>
                  </a:lnTo>
                  <a:cubicBezTo>
                    <a:pt x="6882511" y="2219452"/>
                    <a:pt x="6703568" y="2398522"/>
                    <a:pt x="648271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95979" y="4431830"/>
            <a:ext cx="434826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37224" y="4413895"/>
            <a:ext cx="3591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rules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37224" y="4921787"/>
            <a:ext cx="359197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movement, capture, blocking and win conditions.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346905" y="4179503"/>
            <a:ext cx="5161817" cy="1798777"/>
            <a:chOff x="0" y="0"/>
            <a:chExt cx="6882422" cy="23983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2511" cy="2398522"/>
            </a:xfrm>
            <a:custGeom>
              <a:avLst/>
              <a:gdLst/>
              <a:ahLst/>
              <a:cxnLst/>
              <a:rect r="r" b="b" t="t" l="l"/>
              <a:pathLst>
                <a:path h="2398522" w="6882511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6482715" y="0"/>
                  </a:lnTo>
                  <a:cubicBezTo>
                    <a:pt x="6703441" y="0"/>
                    <a:pt x="6882511" y="178943"/>
                    <a:pt x="6882511" y="399796"/>
                  </a:cubicBezTo>
                  <a:lnTo>
                    <a:pt x="6882511" y="1998726"/>
                  </a:lnTo>
                  <a:cubicBezTo>
                    <a:pt x="6882511" y="2219452"/>
                    <a:pt x="6703568" y="2398522"/>
                    <a:pt x="648271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692577" y="4431830"/>
            <a:ext cx="434826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33812" y="4413895"/>
            <a:ext cx="3591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Game-tree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3812" y="4921787"/>
            <a:ext cx="359197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Represent board configurations as states and legal moves as transitions.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3719" y="6444405"/>
            <a:ext cx="5161817" cy="1798777"/>
            <a:chOff x="0" y="0"/>
            <a:chExt cx="6882422" cy="23983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2511" cy="2398522"/>
            </a:xfrm>
            <a:custGeom>
              <a:avLst/>
              <a:gdLst/>
              <a:ahLst/>
              <a:cxnLst/>
              <a:rect r="r" b="b" t="t" l="l"/>
              <a:pathLst>
                <a:path h="2398522" w="6882511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6482715" y="0"/>
                  </a:lnTo>
                  <a:cubicBezTo>
                    <a:pt x="6703441" y="0"/>
                    <a:pt x="6882511" y="178943"/>
                    <a:pt x="6882511" y="399796"/>
                  </a:cubicBezTo>
                  <a:lnTo>
                    <a:pt x="6882511" y="1998726"/>
                  </a:lnTo>
                  <a:cubicBezTo>
                    <a:pt x="6882511" y="2219452"/>
                    <a:pt x="6703568" y="2398522"/>
                    <a:pt x="648271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99391" y="6696732"/>
            <a:ext cx="434826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0636" y="6678806"/>
            <a:ext cx="3591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player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40636" y="7186698"/>
            <a:ext cx="359197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Apply Minimax, Alpha-Beta pruning and heuristic evaluation.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650307" y="6444405"/>
            <a:ext cx="5161817" cy="1798777"/>
            <a:chOff x="0" y="0"/>
            <a:chExt cx="6882422" cy="23983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2511" cy="2398522"/>
            </a:xfrm>
            <a:custGeom>
              <a:avLst/>
              <a:gdLst/>
              <a:ahLst/>
              <a:cxnLst/>
              <a:rect r="r" b="b" t="t" l="l"/>
              <a:pathLst>
                <a:path h="2398522" w="6882511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6482715" y="0"/>
                  </a:lnTo>
                  <a:cubicBezTo>
                    <a:pt x="6703441" y="0"/>
                    <a:pt x="6882511" y="178943"/>
                    <a:pt x="6882511" y="399796"/>
                  </a:cubicBezTo>
                  <a:lnTo>
                    <a:pt x="6882511" y="1998726"/>
                  </a:lnTo>
                  <a:cubicBezTo>
                    <a:pt x="6882511" y="2219452"/>
                    <a:pt x="6703568" y="2398522"/>
                    <a:pt x="648271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6995979" y="6696732"/>
            <a:ext cx="434826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37224" y="6678806"/>
            <a:ext cx="3591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Constraints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35605" y="7034298"/>
            <a:ext cx="359197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occupancy, connectivity, movement and capture conditions.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346905" y="6444405"/>
            <a:ext cx="5161817" cy="1798777"/>
            <a:chOff x="0" y="0"/>
            <a:chExt cx="6882422" cy="23983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2511" cy="2398522"/>
            </a:xfrm>
            <a:custGeom>
              <a:avLst/>
              <a:gdLst/>
              <a:ahLst/>
              <a:cxnLst/>
              <a:rect r="r" b="b" t="t" l="l"/>
              <a:pathLst>
                <a:path h="2398522" w="6882511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6482715" y="0"/>
                  </a:lnTo>
                  <a:cubicBezTo>
                    <a:pt x="6703441" y="0"/>
                    <a:pt x="6882511" y="178943"/>
                    <a:pt x="6882511" y="399796"/>
                  </a:cubicBezTo>
                  <a:lnTo>
                    <a:pt x="6882511" y="1998726"/>
                  </a:lnTo>
                  <a:cubicBezTo>
                    <a:pt x="6882511" y="2219452"/>
                    <a:pt x="6703568" y="2398522"/>
                    <a:pt x="648271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692577" y="6696732"/>
            <a:ext cx="434826" cy="4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33812" y="6678806"/>
            <a:ext cx="35919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5185" y="7046795"/>
            <a:ext cx="359197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 correctness, responsiveness and AI gameplay quality.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Proposed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499" y="1417272"/>
            <a:ext cx="16014659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Architecture, technology stack and algorithm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5902" y="2108578"/>
            <a:ext cx="2920746" cy="793099"/>
            <a:chOff x="0" y="0"/>
            <a:chExt cx="3894328" cy="10574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328" cy="1057529"/>
            </a:xfrm>
            <a:custGeom>
              <a:avLst/>
              <a:gdLst/>
              <a:ahLst/>
              <a:cxnLst/>
              <a:rect r="r" b="b" t="t" l="l"/>
              <a:pathLst>
                <a:path h="1057529" w="3894328">
                  <a:moveTo>
                    <a:pt x="0" y="176276"/>
                  </a:moveTo>
                  <a:cubicBezTo>
                    <a:pt x="0" y="78867"/>
                    <a:pt x="78867" y="0"/>
                    <a:pt x="176276" y="0"/>
                  </a:cubicBezTo>
                  <a:lnTo>
                    <a:pt x="3718052" y="0"/>
                  </a:lnTo>
                  <a:cubicBezTo>
                    <a:pt x="3815334" y="0"/>
                    <a:pt x="3894328" y="78867"/>
                    <a:pt x="3894328" y="176276"/>
                  </a:cubicBezTo>
                  <a:lnTo>
                    <a:pt x="3894328" y="881253"/>
                  </a:lnTo>
                  <a:cubicBezTo>
                    <a:pt x="3894328" y="978535"/>
                    <a:pt x="3815461" y="1057529"/>
                    <a:pt x="3718052" y="1057529"/>
                  </a:cubicBezTo>
                  <a:lnTo>
                    <a:pt x="176276" y="1057529"/>
                  </a:lnTo>
                  <a:cubicBezTo>
                    <a:pt x="78867" y="1057529"/>
                    <a:pt x="0" y="978535"/>
                    <a:pt x="0" y="881253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2DD4B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6224" y="2346484"/>
            <a:ext cx="2480100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/ PLAYER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98950" y="2108578"/>
            <a:ext cx="2920746" cy="999001"/>
            <a:chOff x="0" y="0"/>
            <a:chExt cx="3894328" cy="13320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94328" cy="1331976"/>
            </a:xfrm>
            <a:custGeom>
              <a:avLst/>
              <a:gdLst/>
              <a:ahLst/>
              <a:cxnLst/>
              <a:rect r="r" b="b" t="t" l="l"/>
              <a:pathLst>
                <a:path h="1331976" w="3894328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3672332" y="0"/>
                  </a:lnTo>
                  <a:cubicBezTo>
                    <a:pt x="3794887" y="0"/>
                    <a:pt x="3894328" y="99441"/>
                    <a:pt x="3894328" y="221996"/>
                  </a:cubicBezTo>
                  <a:lnTo>
                    <a:pt x="3894328" y="1109980"/>
                  </a:lnTo>
                  <a:cubicBezTo>
                    <a:pt x="3894328" y="1232535"/>
                    <a:pt x="3794887" y="1331976"/>
                    <a:pt x="3672332" y="1331976"/>
                  </a:cubicBezTo>
                  <a:lnTo>
                    <a:pt x="221996" y="1331976"/>
                  </a:lnTo>
                  <a:cubicBezTo>
                    <a:pt x="99441" y="1331976"/>
                    <a:pt x="0" y="1232662"/>
                    <a:pt x="0" y="1109980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60A5FA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319273" y="2346484"/>
            <a:ext cx="2480100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UI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(Pygame)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61999" y="2108578"/>
            <a:ext cx="3126638" cy="999001"/>
            <a:chOff x="0" y="0"/>
            <a:chExt cx="4168851" cy="1332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68902" cy="1331976"/>
            </a:xfrm>
            <a:custGeom>
              <a:avLst/>
              <a:gdLst/>
              <a:ahLst/>
              <a:cxnLst/>
              <a:rect r="r" b="b" t="t" l="l"/>
              <a:pathLst>
                <a:path h="1331976" w="4168902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3946906" y="0"/>
                  </a:lnTo>
                  <a:cubicBezTo>
                    <a:pt x="4069461" y="0"/>
                    <a:pt x="4168902" y="99441"/>
                    <a:pt x="4168902" y="221996"/>
                  </a:cubicBezTo>
                  <a:lnTo>
                    <a:pt x="4168902" y="1109980"/>
                  </a:lnTo>
                  <a:cubicBezTo>
                    <a:pt x="4168902" y="1232535"/>
                    <a:pt x="4069461" y="1331976"/>
                    <a:pt x="3946906" y="1331976"/>
                  </a:cubicBezTo>
                  <a:lnTo>
                    <a:pt x="221996" y="1331976"/>
                  </a:lnTo>
                  <a:cubicBezTo>
                    <a:pt x="99441" y="1331976"/>
                    <a:pt x="0" y="1232662"/>
                    <a:pt x="0" y="1109980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60A5F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682322" y="2346484"/>
            <a:ext cx="2686002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ENGINE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State + Turns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99578" y="1765411"/>
            <a:ext cx="3126638" cy="1410805"/>
            <a:chOff x="0" y="0"/>
            <a:chExt cx="4168851" cy="18810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68902" cy="1881124"/>
            </a:xfrm>
            <a:custGeom>
              <a:avLst/>
              <a:gdLst/>
              <a:ahLst/>
              <a:cxnLst/>
              <a:rect r="r" b="b" t="t" l="l"/>
              <a:pathLst>
                <a:path h="1881124" w="4168902">
                  <a:moveTo>
                    <a:pt x="0" y="313563"/>
                  </a:moveTo>
                  <a:cubicBezTo>
                    <a:pt x="0" y="140335"/>
                    <a:pt x="140335" y="0"/>
                    <a:pt x="313563" y="0"/>
                  </a:cubicBezTo>
                  <a:lnTo>
                    <a:pt x="3855339" y="0"/>
                  </a:lnTo>
                  <a:cubicBezTo>
                    <a:pt x="4028440" y="0"/>
                    <a:pt x="4168902" y="140335"/>
                    <a:pt x="4168902" y="313563"/>
                  </a:cubicBezTo>
                  <a:lnTo>
                    <a:pt x="4168902" y="1567561"/>
                  </a:lnTo>
                  <a:cubicBezTo>
                    <a:pt x="4168902" y="1740662"/>
                    <a:pt x="4028567" y="1881124"/>
                    <a:pt x="3855339" y="1881124"/>
                  </a:cubicBezTo>
                  <a:lnTo>
                    <a:pt x="313563" y="1881124"/>
                  </a:lnTo>
                  <a:cubicBezTo>
                    <a:pt x="140335" y="1881124"/>
                    <a:pt x="0" y="1740662"/>
                    <a:pt x="0" y="1567561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FB923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319901" y="2003317"/>
            <a:ext cx="2686002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 / CONSTRAINT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099578" y="3755784"/>
            <a:ext cx="3126638" cy="1410805"/>
            <a:chOff x="0" y="0"/>
            <a:chExt cx="4168851" cy="18810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68902" cy="1881124"/>
            </a:xfrm>
            <a:custGeom>
              <a:avLst/>
              <a:gdLst/>
              <a:ahLst/>
              <a:cxnLst/>
              <a:rect r="r" b="b" t="t" l="l"/>
              <a:pathLst>
                <a:path h="1881124" w="4168902">
                  <a:moveTo>
                    <a:pt x="0" y="313563"/>
                  </a:moveTo>
                  <a:cubicBezTo>
                    <a:pt x="0" y="140335"/>
                    <a:pt x="140335" y="0"/>
                    <a:pt x="313563" y="0"/>
                  </a:cubicBezTo>
                  <a:lnTo>
                    <a:pt x="3855339" y="0"/>
                  </a:lnTo>
                  <a:cubicBezTo>
                    <a:pt x="4028440" y="0"/>
                    <a:pt x="4168902" y="140335"/>
                    <a:pt x="4168902" y="313563"/>
                  </a:cubicBezTo>
                  <a:lnTo>
                    <a:pt x="4168902" y="1567561"/>
                  </a:lnTo>
                  <a:cubicBezTo>
                    <a:pt x="4168902" y="1740662"/>
                    <a:pt x="4028567" y="1881124"/>
                    <a:pt x="3855339" y="1881124"/>
                  </a:cubicBezTo>
                  <a:lnTo>
                    <a:pt x="313563" y="1881124"/>
                  </a:lnTo>
                  <a:cubicBezTo>
                    <a:pt x="140335" y="1881124"/>
                    <a:pt x="0" y="1740662"/>
                    <a:pt x="0" y="1567561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4ADE8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319901" y="3993690"/>
            <a:ext cx="2686002" cy="10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DECISION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737166" y="2726284"/>
            <a:ext cx="2714844" cy="999001"/>
            <a:chOff x="0" y="0"/>
            <a:chExt cx="3619792" cy="1332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19754" cy="1331976"/>
            </a:xfrm>
            <a:custGeom>
              <a:avLst/>
              <a:gdLst/>
              <a:ahLst/>
              <a:cxnLst/>
              <a:rect r="r" b="b" t="t" l="l"/>
              <a:pathLst>
                <a:path h="1331976" w="3619754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3397758" y="0"/>
                  </a:lnTo>
                  <a:cubicBezTo>
                    <a:pt x="3520313" y="0"/>
                    <a:pt x="3619754" y="99441"/>
                    <a:pt x="3619754" y="221996"/>
                  </a:cubicBezTo>
                  <a:lnTo>
                    <a:pt x="3619754" y="1109980"/>
                  </a:lnTo>
                  <a:cubicBezTo>
                    <a:pt x="3619754" y="1232535"/>
                    <a:pt x="3520313" y="1331976"/>
                    <a:pt x="3397758" y="1331976"/>
                  </a:cubicBezTo>
                  <a:lnTo>
                    <a:pt x="221996" y="1331976"/>
                  </a:lnTo>
                  <a:cubicBezTo>
                    <a:pt x="99441" y="1331976"/>
                    <a:pt x="0" y="1232662"/>
                    <a:pt x="0" y="1109980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2DD4B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957479" y="2964190"/>
            <a:ext cx="2274208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VALID MOVE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37166" y="4579391"/>
            <a:ext cx="2714844" cy="999001"/>
            <a:chOff x="0" y="0"/>
            <a:chExt cx="3619792" cy="13320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754" cy="1331976"/>
            </a:xfrm>
            <a:custGeom>
              <a:avLst/>
              <a:gdLst/>
              <a:ahLst/>
              <a:cxnLst/>
              <a:rect r="r" b="b" t="t" l="l"/>
              <a:pathLst>
                <a:path h="1331976" w="3619754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3397758" y="0"/>
                  </a:lnTo>
                  <a:cubicBezTo>
                    <a:pt x="3520313" y="0"/>
                    <a:pt x="3619754" y="99441"/>
                    <a:pt x="3619754" y="221996"/>
                  </a:cubicBezTo>
                  <a:lnTo>
                    <a:pt x="3619754" y="1109980"/>
                  </a:lnTo>
                  <a:cubicBezTo>
                    <a:pt x="3619754" y="1232535"/>
                    <a:pt x="3520313" y="1331976"/>
                    <a:pt x="3397758" y="1331976"/>
                  </a:cubicBezTo>
                  <a:lnTo>
                    <a:pt x="221996" y="1331976"/>
                  </a:lnTo>
                  <a:cubicBezTo>
                    <a:pt x="99441" y="1331976"/>
                    <a:pt x="0" y="1232662"/>
                    <a:pt x="0" y="1109980"/>
                  </a:cubicBezTo>
                  <a:close/>
                </a:path>
              </a:pathLst>
            </a:custGeom>
            <a:solidFill>
              <a:srgbClr val="1E293B"/>
            </a:solidFill>
            <a:ln w="38130" cap="sq">
              <a:solidFill>
                <a:srgbClr val="2DD4B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957479" y="4817297"/>
            <a:ext cx="2274208" cy="6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UPDATE STATE</a:t>
            </a:r>
          </a:p>
        </p:txBody>
      </p:sp>
      <p:sp>
        <p:nvSpPr>
          <p:cNvPr name="AutoShape 25" id="25"/>
          <p:cNvSpPr/>
          <p:nvPr/>
        </p:nvSpPr>
        <p:spPr>
          <a:xfrm rot="192900">
            <a:off x="3622881" y="2502465"/>
            <a:ext cx="509835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92900">
            <a:off x="6985930" y="2502465"/>
            <a:ext cx="509835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170040">
            <a:off x="10554929" y="2502465"/>
            <a:ext cx="578377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4300680">
            <a:off x="9925317" y="3593744"/>
            <a:ext cx="1837601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3216060">
            <a:off x="13994949" y="2838774"/>
            <a:ext cx="973484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2892540">
            <a:off x="14048280" y="4760509"/>
            <a:ext cx="866832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5293260">
            <a:off x="15599626" y="4142813"/>
            <a:ext cx="921277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83675" y="5978747"/>
            <a:ext cx="1876130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3675" y="6486630"/>
            <a:ext cx="16014659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3.x  •  Pygame  •  VS Code / PyCharm  •  Standard Python Libraries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3675" y="7488688"/>
            <a:ext cx="1876130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ALGORITHM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3675" y="7977521"/>
            <a:ext cx="8053159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Minimax + Alpha-Beta Pruning + Heuristic Evaluation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00146" y="7941669"/>
            <a:ext cx="6955012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option: Monte Carlo Tree Search (MCTS) for comparison / enhancement.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499" y="1407747"/>
            <a:ext cx="16014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Software, system requirements and modules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1983229"/>
            <a:ext cx="5230454" cy="5533734"/>
            <a:chOff x="0" y="0"/>
            <a:chExt cx="6973938" cy="7378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73951" cy="7378247"/>
            </a:xfrm>
            <a:custGeom>
              <a:avLst/>
              <a:gdLst/>
              <a:ahLst/>
              <a:cxnLst/>
              <a:rect r="r" b="b" t="t" l="l"/>
              <a:pathLst>
                <a:path h="7378247" w="6973951">
                  <a:moveTo>
                    <a:pt x="0" y="984297"/>
                  </a:moveTo>
                  <a:cubicBezTo>
                    <a:pt x="0" y="440740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440740"/>
                    <a:pt x="6973951" y="984297"/>
                  </a:cubicBezTo>
                  <a:lnTo>
                    <a:pt x="6973951" y="6393950"/>
                  </a:lnTo>
                  <a:cubicBezTo>
                    <a:pt x="6973951" y="6937615"/>
                    <a:pt x="6453505" y="7378247"/>
                    <a:pt x="5811647" y="7378247"/>
                  </a:cubicBezTo>
                  <a:lnTo>
                    <a:pt x="1162304" y="7378247"/>
                  </a:lnTo>
                  <a:cubicBezTo>
                    <a:pt x="520446" y="7378362"/>
                    <a:pt x="0" y="6937615"/>
                    <a:pt x="0" y="6393950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58214" y="2184844"/>
            <a:ext cx="448420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SOFTWARE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8214" y="2756040"/>
            <a:ext cx="4484208" cy="194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Python 3.x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Pygame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VS Code / PyCharm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Windows / Linux / macOS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Python standard libraries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13043" y="1983229"/>
            <a:ext cx="5230454" cy="5533734"/>
            <a:chOff x="0" y="0"/>
            <a:chExt cx="6973938" cy="7378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3951" cy="7378247"/>
            </a:xfrm>
            <a:custGeom>
              <a:avLst/>
              <a:gdLst/>
              <a:ahLst/>
              <a:cxnLst/>
              <a:rect r="r" b="b" t="t" l="l"/>
              <a:pathLst>
                <a:path h="7378247" w="6973951">
                  <a:moveTo>
                    <a:pt x="0" y="984297"/>
                  </a:moveTo>
                  <a:cubicBezTo>
                    <a:pt x="0" y="440740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440740"/>
                    <a:pt x="6973951" y="984297"/>
                  </a:cubicBezTo>
                  <a:lnTo>
                    <a:pt x="6973951" y="6393950"/>
                  </a:lnTo>
                  <a:cubicBezTo>
                    <a:pt x="6973951" y="6937615"/>
                    <a:pt x="6453505" y="7378247"/>
                    <a:pt x="5811647" y="7378247"/>
                  </a:cubicBezTo>
                  <a:lnTo>
                    <a:pt x="1162304" y="7378247"/>
                  </a:lnTo>
                  <a:cubicBezTo>
                    <a:pt x="520446" y="7378362"/>
                    <a:pt x="0" y="6937615"/>
                    <a:pt x="0" y="6393950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86165" y="2184844"/>
            <a:ext cx="448420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6165" y="2756040"/>
            <a:ext cx="4484208" cy="347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Minimum: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Dual-core processor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4 GB RAM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500 MB free storage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1280×720 display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• Keyboard + mouse</a:t>
            </a:r>
          </a:p>
          <a:p>
            <a:pPr algn="l">
              <a:lnSpc>
                <a:spcPts val="3036"/>
              </a:lnSpc>
            </a:pP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Recommended: 8 GB RAM and a modern processor.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41003" y="1983229"/>
            <a:ext cx="5230454" cy="5533734"/>
            <a:chOff x="0" y="0"/>
            <a:chExt cx="6973938" cy="7378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73951" cy="7378247"/>
            </a:xfrm>
            <a:custGeom>
              <a:avLst/>
              <a:gdLst/>
              <a:ahLst/>
              <a:cxnLst/>
              <a:rect r="r" b="b" t="t" l="l"/>
              <a:pathLst>
                <a:path h="7378247" w="6973951">
                  <a:moveTo>
                    <a:pt x="0" y="984297"/>
                  </a:moveTo>
                  <a:cubicBezTo>
                    <a:pt x="0" y="440740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440740"/>
                    <a:pt x="6973951" y="984297"/>
                  </a:cubicBezTo>
                  <a:lnTo>
                    <a:pt x="6973951" y="6393950"/>
                  </a:lnTo>
                  <a:cubicBezTo>
                    <a:pt x="6973951" y="6937615"/>
                    <a:pt x="6453505" y="7378247"/>
                    <a:pt x="5811647" y="7378247"/>
                  </a:cubicBezTo>
                  <a:lnTo>
                    <a:pt x="1162304" y="7378247"/>
                  </a:lnTo>
                  <a:cubicBezTo>
                    <a:pt x="520446" y="7378362"/>
                    <a:pt x="0" y="6937615"/>
                    <a:pt x="0" y="6393950"/>
                  </a:cubicBezTo>
                  <a:close/>
                </a:path>
              </a:pathLst>
            </a:custGeom>
            <a:solidFill>
              <a:srgbClr val="1E293B"/>
            </a:solidFill>
            <a:ln w="14299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514126" y="2184844"/>
            <a:ext cx="4484208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IMPLEMENTATION MODULES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14126" y="2756040"/>
            <a:ext cx="4484208" cy="23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1. Board Module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2. Player / Piece Module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3. Rule &amp; Constraint Engine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4. AI Module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5. Game Controller</a:t>
            </a:r>
          </a:p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6. User Interface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1136" y="8459626"/>
            <a:ext cx="1587738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Current implementation focus: playable board + rule validation + AI move generation/selection.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440426"/>
            <a:ext cx="16426453" cy="95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499" y="1417272"/>
            <a:ext cx="16014659" cy="48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Key sources used for project framing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9926" y="2078879"/>
            <a:ext cx="15666863" cy="331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499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1. S. Russell and P. Norvig, Artificial Intelligence: A Modern Approach — Game Playing, Minimax, Alpha-Beta Pruning and CSP.</a:t>
            </a:r>
          </a:p>
          <a:p>
            <a:pPr algn="l">
              <a:lnSpc>
                <a:spcPts val="3299"/>
              </a:lnSpc>
            </a:pPr>
            <a:r>
              <a:rPr lang="en-US" sz="2499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2. C. B. Browne et al., “A Survey of Monte Carlo Tree Search Methods,” IEEE Transactions on Computational Intelligence and AI in Games, 2012.</a:t>
            </a:r>
          </a:p>
          <a:p>
            <a:pPr algn="l">
              <a:lnSpc>
                <a:spcPts val="3299"/>
              </a:lnSpc>
            </a:pPr>
            <a:r>
              <a:rPr lang="en-US" sz="2499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3. M. Świechowski et al., “Monte Carlo Tree Search: A Review of Recent Modifications and Applications,” Artificial Intelligence Review, 2023.</a:t>
            </a:r>
          </a:p>
          <a:p>
            <a:pPr algn="l">
              <a:lnSpc>
                <a:spcPts val="3299"/>
              </a:lnSpc>
            </a:pPr>
            <a:r>
              <a:rPr lang="en-US" sz="2499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4. B. A. Nadel, “Constraint Satisfaction Algorithms,” Computational Intelligence, 1989.</a:t>
            </a:r>
          </a:p>
          <a:p>
            <a:pPr algn="l">
              <a:lnSpc>
                <a:spcPts val="3299"/>
              </a:lnSpc>
            </a:pPr>
            <a:r>
              <a:rPr lang="en-US" sz="2499">
                <a:solidFill>
                  <a:srgbClr val="F8FAFC"/>
                </a:solidFill>
                <a:latin typeface="Calibri (MS)"/>
                <a:ea typeface="Calibri (MS)"/>
                <a:cs typeface="Calibri (MS)"/>
                <a:sym typeface="Calibri (MS)"/>
              </a:rPr>
              <a:t>• 5. Aadu Puli Aatam rules / digital gameplay references.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8214" y="7431538"/>
            <a:ext cx="15602855" cy="96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2DD4B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8214" y="8361874"/>
            <a:ext cx="15602855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Questions &amp; Discussion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48" y="9745189"/>
            <a:ext cx="16289188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Aadu Puli Aatam • AI-Based Game Playing  |  Project Review I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DAHVL7e3Nak</dc:identifier>
  <dcterms:modified xsi:type="dcterms:W3CDTF">2011-08-01T06:04:30Z</dcterms:modified>
  <cp:revision>1</cp:revision>
  <dc:title>Aadu_Puli_Aatam_Project_Review_1.pptx</dc:title>
</cp:coreProperties>
</file>
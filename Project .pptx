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81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3154680"/>
            <a:ext cx="3474720" cy="0"/>
          </a:xfrm>
          <a:prstGeom prst="line">
            <a:avLst/>
          </a:prstGeom>
          <a:noFill/>
          <a:ln w="12700">
            <a:solidFill>
              <a:srgbClr val="2E6B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4892040"/>
            <a:ext cx="3474720" cy="0"/>
          </a:xfrm>
          <a:prstGeom prst="line">
            <a:avLst/>
          </a:prstGeom>
          <a:noFill/>
          <a:ln w="12700">
            <a:solidFill>
              <a:srgbClr val="2E6B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6629400"/>
            <a:ext cx="3474720" cy="0"/>
          </a:xfrm>
          <a:prstGeom prst="line">
            <a:avLst/>
          </a:prstGeom>
          <a:noFill/>
          <a:ln w="12700">
            <a:solidFill>
              <a:srgbClr val="2E6B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3154680"/>
            <a:ext cx="0" cy="3474720"/>
          </a:xfrm>
          <a:prstGeom prst="line">
            <a:avLst/>
          </a:prstGeom>
          <a:noFill/>
          <a:ln w="12700">
            <a:solidFill>
              <a:srgbClr val="2E6B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3154680"/>
            <a:ext cx="0" cy="3474720"/>
          </a:xfrm>
          <a:prstGeom prst="line">
            <a:avLst/>
          </a:prstGeom>
          <a:noFill/>
          <a:ln w="12700">
            <a:solidFill>
              <a:srgbClr val="2E6B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0" y="3154680"/>
            <a:ext cx="0" cy="3474720"/>
          </a:xfrm>
          <a:prstGeom prst="line">
            <a:avLst/>
          </a:prstGeom>
          <a:noFill/>
          <a:ln w="12700">
            <a:solidFill>
              <a:srgbClr val="2E6B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3154680"/>
            <a:ext cx="3474720" cy="3474720"/>
          </a:xfrm>
          <a:prstGeom prst="line">
            <a:avLst/>
          </a:prstGeom>
          <a:noFill/>
          <a:ln w="12700">
            <a:solidFill>
              <a:srgbClr val="2E6B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09560" y="3108960"/>
            <a:ext cx="91440" cy="91440"/>
          </a:xfrm>
          <a:prstGeom prst="ellipse">
            <a:avLst/>
          </a:prstGeom>
          <a:solidFill>
            <a:srgbClr val="E4D7BF"/>
          </a:solidFill>
          <a:ln/>
        </p:spPr>
      </p:sp>
      <p:sp>
        <p:nvSpPr>
          <p:cNvPr id="10" name="Shape 8"/>
          <p:cNvSpPr/>
          <p:nvPr/>
        </p:nvSpPr>
        <p:spPr>
          <a:xfrm>
            <a:off x="9646920" y="3108960"/>
            <a:ext cx="91440" cy="91440"/>
          </a:xfrm>
          <a:prstGeom prst="ellipse">
            <a:avLst/>
          </a:prstGeom>
          <a:solidFill>
            <a:srgbClr val="E4D7BF"/>
          </a:solidFill>
          <a:ln/>
        </p:spPr>
      </p:sp>
      <p:sp>
        <p:nvSpPr>
          <p:cNvPr id="11" name="Shape 9"/>
          <p:cNvSpPr/>
          <p:nvPr/>
        </p:nvSpPr>
        <p:spPr>
          <a:xfrm>
            <a:off x="11384280" y="3108960"/>
            <a:ext cx="91440" cy="91440"/>
          </a:xfrm>
          <a:prstGeom prst="ellipse">
            <a:avLst/>
          </a:prstGeom>
          <a:solidFill>
            <a:srgbClr val="E4D7B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9560" y="4846320"/>
            <a:ext cx="91440" cy="91440"/>
          </a:xfrm>
          <a:prstGeom prst="ellipse">
            <a:avLst/>
          </a:prstGeom>
          <a:solidFill>
            <a:srgbClr val="E4D7BF"/>
          </a:solidFill>
          <a:ln/>
        </p:spPr>
      </p:sp>
      <p:sp>
        <p:nvSpPr>
          <p:cNvPr id="13" name="Shape 11"/>
          <p:cNvSpPr/>
          <p:nvPr/>
        </p:nvSpPr>
        <p:spPr>
          <a:xfrm>
            <a:off x="9646920" y="4846320"/>
            <a:ext cx="91440" cy="91440"/>
          </a:xfrm>
          <a:prstGeom prst="ellipse">
            <a:avLst/>
          </a:prstGeom>
          <a:solidFill>
            <a:srgbClr val="E4D7B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84280" y="4846320"/>
            <a:ext cx="91440" cy="91440"/>
          </a:xfrm>
          <a:prstGeom prst="ellipse">
            <a:avLst/>
          </a:prstGeom>
          <a:solidFill>
            <a:srgbClr val="E4D7BF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9560" y="6583680"/>
            <a:ext cx="91440" cy="91440"/>
          </a:xfrm>
          <a:prstGeom prst="ellipse">
            <a:avLst/>
          </a:prstGeom>
          <a:solidFill>
            <a:srgbClr val="E4D7B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6583680"/>
            <a:ext cx="91440" cy="91440"/>
          </a:xfrm>
          <a:prstGeom prst="ellipse">
            <a:avLst/>
          </a:prstGeom>
          <a:solidFill>
            <a:srgbClr val="E4D7B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84280" y="6583680"/>
            <a:ext cx="91440" cy="91440"/>
          </a:xfrm>
          <a:prstGeom prst="ellipse">
            <a:avLst/>
          </a:prstGeom>
          <a:solidFill>
            <a:srgbClr val="E4D7BF"/>
          </a:solidFill>
          <a:ln/>
        </p:spPr>
      </p:sp>
      <p:pic>
        <p:nvPicPr>
          <p:cNvPr id="18" name="Image 0" descr="/home/claude/aadu/icon_tiger_C157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98648"/>
            <a:ext cx="512064" cy="512064"/>
          </a:xfrm>
          <a:prstGeom prst="rect">
            <a:avLst/>
          </a:prstGeom>
        </p:spPr>
      </p:pic>
      <p:pic>
        <p:nvPicPr>
          <p:cNvPr id="19" name="Image 1" descr="/home/claude/aadu/icon_tiger_C157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68" y="2898648"/>
            <a:ext cx="512064" cy="512064"/>
          </a:xfrm>
          <a:prstGeom prst="rect">
            <a:avLst/>
          </a:prstGeom>
        </p:spPr>
      </p:pic>
      <p:pic>
        <p:nvPicPr>
          <p:cNvPr id="20" name="Image 2" descr="/home/claude/aadu/icon_goat_F7F2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6391656"/>
            <a:ext cx="475488" cy="475488"/>
          </a:xfrm>
          <a:prstGeom prst="rect">
            <a:avLst/>
          </a:prstGeom>
        </p:spPr>
      </p:pic>
      <p:pic>
        <p:nvPicPr>
          <p:cNvPr id="21" name="Image 3" descr="/home/claude/aadu/icon_goat_F7F2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4654296"/>
            <a:ext cx="475488" cy="475488"/>
          </a:xfrm>
          <a:prstGeom prst="rect">
            <a:avLst/>
          </a:prstGeom>
        </p:spPr>
      </p:pic>
      <p:pic>
        <p:nvPicPr>
          <p:cNvPr id="22" name="Image 4" descr="/home/claude/aadu/icon_goat_F7F2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256" y="4654296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I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94360" y="13258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Aadu Puli Aatam</a:t>
            </a:r>
            <a:endParaRPr lang="en-US" sz="5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2331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4D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AI-Based Traditional Board Game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12987" y="29626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Tigers  ·  Fifteen Goats  ·  23-Point Board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4564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adversarial search, heuristic evaluation and constraint-based rule validation to an interactive digital game.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58368" y="4709160"/>
            <a:ext cx="2377440" cy="0"/>
          </a:xfrm>
          <a:prstGeom prst="line">
            <a:avLst/>
          </a:prstGeom>
          <a:noFill/>
          <a:ln w="25400">
            <a:solidFill>
              <a:srgbClr val="C1571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4008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640080" y="5166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Mithulesh J   –   240701313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Mithun Raj D   –   240701315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64008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Game Playing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ABSTRACT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game is, and what the AI has to 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1F4B4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/home/claude/aadu/icon_goat_F7F2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6243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6324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</a:t>
            </a:r>
            <a:r>
              <a:rPr lang="en-US" sz="13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Puli Aatam is a traditional asymmetric strategy game involving 3 tigers and 15 goats. Tigers attempt to capture goats, while goats attempt to block and trap the tigers.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4389120"/>
            <a:ext cx="4617720" cy="0"/>
          </a:xfrm>
          <a:prstGeom prst="line">
            <a:avLst/>
          </a:prstGeom>
          <a:noFill/>
          <a:ln w="12700">
            <a:solidFill>
              <a:srgbClr val="2E6B6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5262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4846320"/>
            <a:ext cx="2377440" cy="301752"/>
          </a:xfrm>
          <a:prstGeom prst="roundRect">
            <a:avLst>
              <a:gd name="adj" fmla="val 18182"/>
            </a:avLst>
          </a:prstGeom>
          <a:solidFill>
            <a:srgbClr val="2E6B6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84632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29000" y="4846320"/>
            <a:ext cx="2377440" cy="301752"/>
          </a:xfrm>
          <a:prstGeom prst="roundRect">
            <a:avLst>
              <a:gd name="adj" fmla="val 18182"/>
            </a:avLst>
          </a:prstGeom>
          <a:solidFill>
            <a:srgbClr val="2E6B6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29000" y="484632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Moves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377440" cy="301752"/>
          </a:xfrm>
          <a:prstGeom prst="roundRect">
            <a:avLst>
              <a:gd name="adj" fmla="val 18182"/>
            </a:avLst>
          </a:prstGeom>
          <a:solidFill>
            <a:srgbClr val="2E6B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5212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429000" y="5212080"/>
            <a:ext cx="2377440" cy="301752"/>
          </a:xfrm>
          <a:prstGeom prst="roundRect">
            <a:avLst>
              <a:gd name="adj" fmla="val 18182"/>
            </a:avLst>
          </a:prstGeom>
          <a:solidFill>
            <a:srgbClr val="2E6B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429000" y="5212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14400" y="5577840"/>
            <a:ext cx="2377440" cy="301752"/>
          </a:xfrm>
          <a:prstGeom prst="roundRect">
            <a:avLst>
              <a:gd name="adj" fmla="val 18182"/>
            </a:avLst>
          </a:prstGeom>
          <a:solidFill>
            <a:srgbClr val="2E6B6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55778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629400" y="320040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 Puli Aatam  ·  AI-Based Game Playing  |  Project Review I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 STATEMENT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Traditional Play to Digital Decision-Making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rules engine alone is not enough</a:t>
            </a:r>
            <a:endParaRPr lang="en-US" sz="1300" dirty="0"/>
          </a:p>
        </p:txBody>
      </p:sp>
      <p:pic>
        <p:nvPicPr>
          <p:cNvPr id="5" name="Image 0" descr="/home/claude/aadu/icon_clipboard_C157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9293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" y="2542032"/>
            <a:ext cx="91440" cy="91440"/>
          </a:xfrm>
          <a:prstGeom prst="ellipse">
            <a:avLst/>
          </a:prstGeom>
          <a:solidFill>
            <a:srgbClr val="C1571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play depends entirely on human decision-making.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3026664"/>
            <a:ext cx="91440" cy="91440"/>
          </a:xfrm>
          <a:prstGeom prst="ellipse">
            <a:avLst/>
          </a:prstGeom>
          <a:solidFill>
            <a:srgbClr val="C157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implementation must accurately represent the 23-point board and its connections.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694176"/>
            <a:ext cx="91440" cy="91440"/>
          </a:xfrm>
          <a:prstGeom prst="ellipse">
            <a:avLst/>
          </a:prstGeom>
          <a:solidFill>
            <a:srgbClr val="C1571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" y="35478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enforce movement, capture, blocking and winning rules.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361688"/>
            <a:ext cx="91440" cy="91440"/>
          </a:xfrm>
          <a:prstGeom prst="ellipse">
            <a:avLst/>
          </a:prstGeom>
          <a:solidFill>
            <a:srgbClr val="C157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1248" y="42153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opponent should analyse possible future game states rather than choose moves randomly.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" y="5029200"/>
            <a:ext cx="91440" cy="91440"/>
          </a:xfrm>
          <a:prstGeom prst="ellipse">
            <a:avLst/>
          </a:prstGeom>
          <a:solidFill>
            <a:srgbClr val="C157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1248" y="4882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must remain efficient enough for responsive gameplay.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720840" y="1874520"/>
            <a:ext cx="4892040" cy="3657600"/>
          </a:xfrm>
          <a:prstGeom prst="roundRect">
            <a:avLst>
              <a:gd name="adj" fmla="val 2250"/>
            </a:avLst>
          </a:prstGeom>
          <a:solidFill>
            <a:srgbClr val="1F4B43"/>
          </a:solidFill>
          <a:ln/>
        </p:spPr>
      </p:sp>
      <p:pic>
        <p:nvPicPr>
          <p:cNvPr id="18" name="Image 1" descr="/home/claude/aadu/icon_maze_F7F2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16712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525512" y="2203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CHALLENGE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040880" y="2743200"/>
            <a:ext cx="4251960" cy="475488"/>
          </a:xfrm>
          <a:prstGeom prst="roundRect">
            <a:avLst>
              <a:gd name="adj" fmla="val 11538"/>
            </a:avLst>
          </a:prstGeom>
          <a:solidFill>
            <a:srgbClr val="2E6B6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040880" y="2743200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9166860" y="3218688"/>
            <a:ext cx="0" cy="109728"/>
          </a:xfrm>
          <a:prstGeom prst="line">
            <a:avLst/>
          </a:prstGeom>
          <a:noFill/>
          <a:ln w="19050">
            <a:solidFill>
              <a:srgbClr val="C1571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40880" y="3328416"/>
            <a:ext cx="4251960" cy="475488"/>
          </a:xfrm>
          <a:prstGeom prst="roundRect">
            <a:avLst>
              <a:gd name="adj" fmla="val 11538"/>
            </a:avLst>
          </a:prstGeom>
          <a:solidFill>
            <a:srgbClr val="2E6B60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40880" y="3328416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Legal Moves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9166860" y="3803904"/>
            <a:ext cx="0" cy="109728"/>
          </a:xfrm>
          <a:prstGeom prst="line">
            <a:avLst/>
          </a:prstGeom>
          <a:noFill/>
          <a:ln w="19050">
            <a:solidFill>
              <a:srgbClr val="C1571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40880" y="3913632"/>
            <a:ext cx="4251960" cy="475488"/>
          </a:xfrm>
          <a:prstGeom prst="roundRect">
            <a:avLst>
              <a:gd name="adj" fmla="val 11538"/>
            </a:avLst>
          </a:prstGeom>
          <a:solidFill>
            <a:srgbClr val="2E6B6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040880" y="391363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Possible States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9166860" y="4389120"/>
            <a:ext cx="0" cy="109728"/>
          </a:xfrm>
          <a:prstGeom prst="line">
            <a:avLst/>
          </a:prstGeom>
          <a:noFill/>
          <a:ln w="19050">
            <a:solidFill>
              <a:srgbClr val="C1571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040880" y="4498848"/>
            <a:ext cx="4251960" cy="475488"/>
          </a:xfrm>
          <a:prstGeom prst="roundRect">
            <a:avLst>
              <a:gd name="adj" fmla="val 11538"/>
            </a:avLst>
          </a:prstGeom>
          <a:solidFill>
            <a:srgbClr val="2E6B6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7040880" y="4498848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 Move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9166860" y="4974336"/>
            <a:ext cx="0" cy="109728"/>
          </a:xfrm>
          <a:prstGeom prst="line">
            <a:avLst/>
          </a:prstGeom>
          <a:noFill/>
          <a:ln w="19050">
            <a:solidFill>
              <a:srgbClr val="C1571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040880" y="5084064"/>
            <a:ext cx="4251960" cy="475488"/>
          </a:xfrm>
          <a:prstGeom prst="roundRect">
            <a:avLst>
              <a:gd name="adj" fmla="val 11538"/>
            </a:avLst>
          </a:prstGeom>
          <a:solidFill>
            <a:srgbClr val="2E6B60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040880" y="5084064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Game State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548640" y="574243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FE7D8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777240" y="57424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2606040" y="5742432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an intelligent digital Aadu Puli Aatam system that validates legal moves and uses adversarial search to select strategically beneficial moves.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 Puli Aatam  ·  AI-Based Game Playing  |  Project Review I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LITERATURE SURVEY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Foundations for Game AI &amp; CSP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that informs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402336"/>
          </a:xfrm>
          <a:prstGeom prst="roundRect">
            <a:avLst>
              <a:gd name="adj" fmla="val 11364"/>
            </a:avLst>
          </a:prstGeom>
          <a:solidFill>
            <a:srgbClr val="1F4B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/ Source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8288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8288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18288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Relevance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&amp; Norvig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26771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+ Alpha-Beta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267712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adversarial decisions; pruning reduces unnecessary search.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829800" y="226771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decision model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11064240" cy="658368"/>
          </a:xfrm>
          <a:prstGeom prst="rect">
            <a:avLst/>
          </a:prstGeom>
          <a:solidFill>
            <a:srgbClr val="EFE7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9260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Browne et al. (2012)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92608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Tree Search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926080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search through repeated simulation; balances exploration and exploitation.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92608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AI approach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58444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Świechowski et al. (2023)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58444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Review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584448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MCTS variants and applications across game domains.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829800" y="358444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comparison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1064240" cy="658368"/>
          </a:xfrm>
          <a:prstGeom prst="rect">
            <a:avLst/>
          </a:prstGeom>
          <a:solidFill>
            <a:srgbClr val="EFE7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24281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Nadel (1989)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424281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242816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constraint propagation help solve structured constraint problems.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4242816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Legal-move validation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90118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Aadu Puli Aatam implementations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490118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Gameplay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4901184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versions implement movement, capture and win rules.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829800" y="490118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Game-rule foundation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68756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F4B4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56875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game-AI research is mature, but traditional asymmetric games such as Aadu Puli Aatam offer a focused setting for combining search with explicit rule constraints.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 Puli Aatam  ·  AI-Based Game Playing  |  Project Review I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RESEARCH GAP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Proposed Work Is Positioned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across existing game AI and existing game versions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D7BF"/>
            </a:solidFill>
            <a:prstDash val="solid"/>
          </a:ln>
        </p:spPr>
      </p:sp>
      <p:pic>
        <p:nvPicPr>
          <p:cNvPr id="6" name="Image 0" descr="/home/claude/aadu/icon_brain_C157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791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GAME AI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research exists for Chess, Go, Othello and other benchmark games.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approaches include Minimax, Alpha-Beta, MCTS and learning-based agents.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4D7BF"/>
            </a:solidFill>
            <a:prstDash val="solid"/>
          </a:ln>
        </p:spPr>
      </p:sp>
      <p:pic>
        <p:nvPicPr>
          <p:cNvPr id="10" name="Image 1" descr="/home/claude/aadu/icon_board_C157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4884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791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GAME VERSIONS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2004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Aadu Puli Aatam implementations primarily focus on board interaction and rule enforcement.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decision-making is not always the central focus.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8745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1F4B43"/>
          </a:solidFill>
          <a:ln/>
        </p:spPr>
      </p:sp>
      <p:pic>
        <p:nvPicPr>
          <p:cNvPr id="14" name="Image 2" descr="/home/claude/aadu/icon_target_F7F2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148840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0" y="26791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IDENTIFIED GAP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8412480" y="32004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implementation can combine: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 23-point state representation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Constraint-based legal moves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Asymmetric strategic evaluation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Adversarial AI search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FE7D8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2296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STATEMENT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526694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scope for an AI-oriented Aadu Puli Aatam system that integrates formal game-state modelling, constraint-based move validation and intelligent adversarial decision-making.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 Puli Aatam  ·  AI-Based Game Playing  |  Project Review I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RESEARCH OBJECTIVE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Aims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E6B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642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intelligent game-playing system for Aadu Puli Aatam capable of analysing game states and selecting optimal or near-optimal moves using Artificial Intelligence techniques.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7F2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2532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C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/home/claude/aadu/icon_board_C157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64261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4672" y="308152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board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41071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23-point board and piece positions.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24231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7F2E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086600" y="2532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C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1" descr="/home/claude/aadu/icon_shield_C157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64261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53712" y="308152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rules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53712" y="341071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movement, capture, blocking and win conditions.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46720" y="24231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7F2E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0835640" y="2532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C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2" descr="/home/claude/aadu/icon_project_C1571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64261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02752" y="308152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Game-tree model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02752" y="341071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board configurations as states and legal moves as transitions.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2062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7F2E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337560" y="4315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C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pic>
        <p:nvPicPr>
          <p:cNvPr id="24" name="Image 3" descr="/home/claude/aadu/icon_brain_C157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42569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04672" y="48646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player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04672" y="519379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Minimax, Alpha-Beta pruning and heuristic evaluation.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297680" y="42062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7F2EA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086600" y="4315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C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pic>
        <p:nvPicPr>
          <p:cNvPr id="29" name="Image 4" descr="/home/claude/aadu/icon_check_C157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4425696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553712" y="48646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4553712" y="519379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occupancy, connectivity, movement and capture conditions.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046720" y="42062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7F2EA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10835640" y="4315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C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pic>
        <p:nvPicPr>
          <p:cNvPr id="34" name="Image 5" descr="/home/claude/aadu/icon_bullseye_C1571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4425696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02752" y="48646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302752" y="519379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correctness, responsiveness and AI gameplay quality.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 Puli Aatam  ·  AI-Based Game Playing  |  Project Review I</a:t>
            </a:r>
            <a:endParaRPr lang="en-US" sz="950" dirty="0"/>
          </a:p>
        </p:txBody>
      </p:sp>
      <p:sp>
        <p:nvSpPr>
          <p:cNvPr id="38" name="Text 3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9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PROPOSED WORK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Technology Stack &amp; Algorithm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move travels from player input to updated 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2396" y="23317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7BF"/>
            </a:solidFill>
            <a:prstDash val="solid"/>
          </a:ln>
        </p:spPr>
      </p:sp>
      <p:pic>
        <p:nvPicPr>
          <p:cNvPr id="6" name="Image 0" descr="/home/claude/aadu/icon_goat_C157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4597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82396" y="2862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PLAYER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56916" y="2857500"/>
            <a:ext cx="256032" cy="0"/>
          </a:xfrm>
          <a:prstGeom prst="line">
            <a:avLst/>
          </a:prstGeom>
          <a:noFill/>
          <a:ln w="25400">
            <a:solidFill>
              <a:srgbClr val="C1571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012948" y="23317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7BF"/>
            </a:solidFill>
            <a:prstDash val="solid"/>
          </a:ln>
        </p:spPr>
      </p:sp>
      <p:pic>
        <p:nvPicPr>
          <p:cNvPr id="10" name="Image 1" descr="/home/claude/aadu/icon_board_C157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4597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12948" y="2862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UI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(Pygame)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887468" y="2857500"/>
            <a:ext cx="256032" cy="0"/>
          </a:xfrm>
          <a:prstGeom prst="line">
            <a:avLst/>
          </a:prstGeom>
          <a:noFill/>
          <a:ln w="25400">
            <a:solidFill>
              <a:srgbClr val="C1571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143500" y="23317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7BF"/>
            </a:solidFill>
            <a:prstDash val="solid"/>
          </a:ln>
        </p:spPr>
      </p:sp>
      <p:pic>
        <p:nvPicPr>
          <p:cNvPr id="14" name="Image 2" descr="/home/claude/aadu/icon_gears_C1571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2459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43500" y="2862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Turns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018020" y="2857500"/>
            <a:ext cx="256032" cy="0"/>
          </a:xfrm>
          <a:prstGeom prst="line">
            <a:avLst/>
          </a:prstGeom>
          <a:noFill/>
          <a:ln w="25400">
            <a:solidFill>
              <a:srgbClr val="C1571A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7274052" y="23317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F4B43"/>
          </a:solidFill>
          <a:ln/>
        </p:spPr>
      </p:sp>
      <p:pic>
        <p:nvPicPr>
          <p:cNvPr id="18" name="Image 3" descr="/home/claude/aadu/icon_brain_F7F2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24597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74052" y="2862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148572" y="2857500"/>
            <a:ext cx="256032" cy="0"/>
          </a:xfrm>
          <a:prstGeom prst="line">
            <a:avLst/>
          </a:prstGeom>
          <a:noFill/>
          <a:ln w="25400">
            <a:solidFill>
              <a:srgbClr val="C1571A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9404604" y="23317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7BF"/>
            </a:solidFill>
            <a:prstDash val="solid"/>
          </a:ln>
        </p:spPr>
      </p:sp>
      <p:pic>
        <p:nvPicPr>
          <p:cNvPr id="22" name="Image 4" descr="/home/claude/aadu/icon_check_C157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8128" y="2459736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404604" y="2862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954012" y="173736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EFE7D8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954012" y="1737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CONSTRAINT MODULE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8211312" y="2194560"/>
            <a:ext cx="0" cy="137160"/>
          </a:xfrm>
          <a:prstGeom prst="line">
            <a:avLst/>
          </a:prstGeom>
          <a:noFill/>
          <a:ln w="19050">
            <a:solidFill>
              <a:srgbClr val="C1571A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8552383" y="361188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EFE7D8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8552383" y="3611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 MOVE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43434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F4B43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2296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22960" y="50292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 ·  Pygame  ·  VS Code / PyCharm  ·  Standard Python Libraries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172200" y="43434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D7B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44652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6446520" y="50017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+ Alpha-Beta Pruning + Heuristic Evaluation</a:t>
            </a:r>
            <a:endParaRPr lang="en-US" sz="1250" dirty="0"/>
          </a:p>
        </p:txBody>
      </p:sp>
      <p:sp>
        <p:nvSpPr>
          <p:cNvPr id="35" name="Text 28"/>
          <p:cNvSpPr txBox="1"/>
          <p:nvPr/>
        </p:nvSpPr>
        <p:spPr>
          <a:xfrm>
            <a:off x="6446520" y="53949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option: Monte Carlo Tree Search (MCTS) for comparison / enhancement.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 Puli Aatam  ·  AI-Based Game Playing  |  Project Review I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Software, System Requirements &amp; Modules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 to build and run the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D7BF"/>
            </a:solidFill>
            <a:prstDash val="solid"/>
          </a:ln>
        </p:spPr>
      </p:sp>
      <p:pic>
        <p:nvPicPr>
          <p:cNvPr id="6" name="Image 0" descr="/home/claude/aadu/icon_laptop_C157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31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3.x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301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Pygame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1421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VS Code / PyCharm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39826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Windows / Linux / macOS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7823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standard libraries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8288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1F4B43"/>
          </a:solidFill>
          <a:ln/>
        </p:spPr>
      </p:sp>
      <p:pic>
        <p:nvPicPr>
          <p:cNvPr id="14" name="Image 1" descr="/home/claude/aadu/icon_gears_F7F2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0312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772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3200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34930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Dual-core processor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38039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GB RAM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41148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500 MB free storage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617720" y="44256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1280×720 display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47365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Keyboard + mouse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5120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B9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8 GB RAM and a modern processor.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38160" y="18288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D7BF"/>
            </a:solidFill>
            <a:prstDash val="solid"/>
          </a:ln>
        </p:spPr>
      </p:sp>
      <p:pic>
        <p:nvPicPr>
          <p:cNvPr id="24" name="Image 2" descr="/home/claude/aadu/icon_layer_C1571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103120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41248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12480" y="315468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Board Module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35204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Player / Piece Module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8412480" y="38862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Rule &amp; Constraint Engine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8412480" y="42519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AI Module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8412480" y="4617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Game Controller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8412480" y="498348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User Interface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548640" y="5824728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FE7D8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22960" y="58247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focus: playable board  ·  rule validation  ·  AI move generation / selection.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 Puli Aatam  ·  AI-Based Game Playing  |  Project Review I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Sources Used for Project Framing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Russell and P. Norvig, Artificial Intelligence: A Modern Approach — Game Playing, Minimax, Alpha-Beta Pruning and CSP.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842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9842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B. Browne et al., “A Survey of Monte Carlo Tree Search Methods,” IEEE Transactions on Computational Intelligence and AI in Games, 2012.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5117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55117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Świechowski et al., “Monte Carlo Tree Search: A Review of Recent Modifications and Applications,” Artificial Intelligence Review, 2023.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1810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11810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A. Nadel, “Constraint Satisfaction Algorithms,” Computational Intelligence, 1989.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8503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6850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 Puli Aatam rules / digital gameplay references.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64240" cy="0"/>
          </a:xfrm>
          <a:prstGeom prst="line">
            <a:avLst/>
          </a:prstGeom>
          <a:noFill/>
          <a:ln w="12700">
            <a:solidFill>
              <a:srgbClr val="2E6B60"/>
            </a:solidFill>
            <a:prstDash val="solid"/>
          </a:ln>
        </p:spPr>
      </p:sp>
      <p:pic>
        <p:nvPicPr>
          <p:cNvPr id="15" name="Image 0" descr="/home/claude/aadu/icon_tiger_C157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754880"/>
            <a:ext cx="822960" cy="822960"/>
          </a:xfrm>
          <a:prstGeom prst="rect">
            <a:avLst/>
          </a:prstGeom>
        </p:spPr>
      </p:pic>
      <p:pic>
        <p:nvPicPr>
          <p:cNvPr id="16" name="Image 1" descr="/home/claude/aadu/icon_goat_F7F2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754880"/>
            <a:ext cx="777240" cy="7772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Aadu Puli Aatam  ·  AI-Based Game Playing  |  Project Review I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9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1061</Words>
  <Application>Microsoft Office PowerPoint</Application>
  <PresentationFormat>Widescreen</PresentationFormat>
  <Paragraphs>191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Chandran D</cp:lastModifiedBy>
  <cp:revision>2</cp:revision>
  <dcterms:created xsi:type="dcterms:W3CDTF">2026-09-22T03:27:30Z</dcterms:created>
  <dcterms:modified xsi:type="dcterms:W3CDTF">2026-09-26T02:33:55Z</dcterms:modified>
</cp:coreProperties>
</file>